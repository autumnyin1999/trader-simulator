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1387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zeref007.github.io/trader-simulator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1417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INVESTFAIR · FIN 7870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22402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an Option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5360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first principles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 Seng Index Options, the mathematics behind the trade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option?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contract that gives you the right, not the obligation, to trade at a fixed price.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2578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64008" cy="2194560"/>
          </a:xfrm>
          <a:prstGeom prst="rect">
            <a:avLst/>
          </a:prstGeom>
          <a:solidFill>
            <a:srgbClr val="0E8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54203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8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60120" y="32461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to BUY at the strike K.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E8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profit when the market rises  ▲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72784" y="2286000"/>
            <a:ext cx="52578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72784" y="2286000"/>
            <a:ext cx="64008" cy="2194560"/>
          </a:xfrm>
          <a:prstGeom prst="rect">
            <a:avLst/>
          </a:prstGeom>
          <a:solidFill>
            <a:srgbClr val="D7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92824" y="254203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7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592824" y="32461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to SELL at the strike K.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D7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profit when the market falls  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pay a premium up front, the price of the choice.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VOCABULARY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words to own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976933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64008" cy="274320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2423160"/>
            <a:ext cx="1702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4672" y="3383280"/>
            <a:ext cx="1702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Underlying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3886200"/>
            <a:ext cx="1702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spot price right now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73045" y="2103120"/>
            <a:ext cx="1976933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73045" y="2103120"/>
            <a:ext cx="64008" cy="274320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37637" y="2423160"/>
            <a:ext cx="1702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037637" y="3383280"/>
            <a:ext cx="1702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Strike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37637" y="3886200"/>
            <a:ext cx="1702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locked-in price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6010" y="2103120"/>
            <a:ext cx="1976933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06010" y="2103120"/>
            <a:ext cx="64008" cy="274320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70602" y="2423160"/>
            <a:ext cx="1702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270602" y="3383280"/>
            <a:ext cx="1702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70602" y="3886200"/>
            <a:ext cx="1702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option costs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38974" y="2103120"/>
            <a:ext cx="1976933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38974" y="2103120"/>
            <a:ext cx="64008" cy="274320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03566" y="2423160"/>
            <a:ext cx="1702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503566" y="3383280"/>
            <a:ext cx="1702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Expiry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03566" y="3886200"/>
            <a:ext cx="1702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choice ends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571939" y="2103120"/>
            <a:ext cx="1976933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71939" y="2103120"/>
            <a:ext cx="64008" cy="274320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36531" y="2423160"/>
            <a:ext cx="1702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736531" y="3383280"/>
            <a:ext cx="1702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Moneyness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36531" y="3886200"/>
            <a:ext cx="17026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ITM / ATM / OTM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PAYOFF AT EXPIRY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capped, upside open</a:t>
            </a:r>
            <a:endParaRPr lang="en-US" sz="3000" dirty="0"/>
          </a:p>
        </p:txBody>
      </p:sp>
      <p:pic>
        <p:nvPicPr>
          <p:cNvPr id="5" name="Image 0" descr="assets/concept/payof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600200"/>
            <a:ext cx="1051560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long option can lose only the premium, but its gains are unbounded. That asymmetry is the whole point.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STRIKE SITS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In, at, or out of the money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64008" cy="2697480"/>
          </a:xfrm>
          <a:prstGeom prst="rect">
            <a:avLst/>
          </a:prstGeom>
          <a:solidFill>
            <a:srgbClr val="0E8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8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E8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ITM   </a:t>
            </a:r>
            <a:r>
              <a:rPr lang="en-US" sz="15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above strike   (S &gt; K)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53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ATM   </a:t>
            </a:r>
            <a:r>
              <a:rPr lang="en-US" sz="15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at the strike  (S = K)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7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OTM   </a:t>
            </a:r>
            <a:r>
              <a:rPr lang="en-US" sz="15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below strike   (S &lt; K)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2784" y="1874520"/>
            <a:ext cx="525780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72784" y="1874520"/>
            <a:ext cx="64008" cy="2697480"/>
          </a:xfrm>
          <a:prstGeom prst="rect">
            <a:avLst/>
          </a:prstGeom>
          <a:solidFill>
            <a:srgbClr val="D7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92824" y="2103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92824" y="278892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E8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ITM   </a:t>
            </a:r>
            <a:r>
              <a:rPr lang="en-US" sz="15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below strike   (S &lt; K)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53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ATM   </a:t>
            </a:r>
            <a:r>
              <a:rPr lang="en-US" sz="15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at the strike  (S = K)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7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OTM   </a:t>
            </a:r>
            <a:r>
              <a:rPr lang="en-US" sz="15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above strike   (S &gt; K)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892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= intrinsic value + time value. Time value pays for what spot might still do, and it fades to zero by expiry.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MOVES THE PRICE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inputs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828800"/>
          <a:ext cx="6583680" cy="35204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(rises)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value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 value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Spot price  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E8A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▲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D726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▼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Strike  K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D726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▼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E8A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▲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expiry  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E8A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▲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E8A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▲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Volatility  σ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E8A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▲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E8A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▲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Interest rate  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E8A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▲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D726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▼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Dividend  q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D726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▼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E8A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▲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828800"/>
            <a:ext cx="3200400" cy="35204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4"/>
          <p:cNvSpPr/>
          <p:nvPr/>
        </p:nvSpPr>
        <p:spPr>
          <a:xfrm>
            <a:off x="8321040" y="1828800"/>
            <a:ext cx="64008" cy="352044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Volatility is the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one.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595360" y="3383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only input you cannot read off a screen, and it drives the premium most.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8016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sensitivities are the Greeks.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GREEKS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sensitivities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976933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64008" cy="26517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97693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E7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19769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Delta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9808" y="4069080"/>
            <a:ext cx="17574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vs. spot price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73045" y="2194560"/>
            <a:ext cx="1976933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73045" y="2194560"/>
            <a:ext cx="64008" cy="26517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73045" y="2514600"/>
            <a:ext cx="197693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E7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Γ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2873045" y="3611880"/>
            <a:ext cx="19769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Gamma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982773" y="4069080"/>
            <a:ext cx="17574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fast Delta moves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06010" y="2194560"/>
            <a:ext cx="1976933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06010" y="2194560"/>
            <a:ext cx="64008" cy="26517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06010" y="2514600"/>
            <a:ext cx="197693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E7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5106010" y="3611880"/>
            <a:ext cx="19769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Theta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215738" y="4069080"/>
            <a:ext cx="17574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lost to time decay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38974" y="2194560"/>
            <a:ext cx="1976933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38974" y="2194560"/>
            <a:ext cx="64008" cy="26517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38974" y="2514600"/>
            <a:ext cx="197693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E7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ν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7338974" y="3611880"/>
            <a:ext cx="19769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Vega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448702" y="4069080"/>
            <a:ext cx="17574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vs. volatility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571939" y="2194560"/>
            <a:ext cx="1976933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71939" y="2194560"/>
            <a:ext cx="64008" cy="26517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571939" y="2514600"/>
            <a:ext cx="197693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E7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</a:t>
            </a:r>
            <a:endParaRPr lang="en-US" sz="5000" dirty="0"/>
          </a:p>
        </p:txBody>
      </p:sp>
      <p:sp>
        <p:nvSpPr>
          <p:cNvPr id="28" name="Text 26"/>
          <p:cNvSpPr/>
          <p:nvPr/>
        </p:nvSpPr>
        <p:spPr>
          <a:xfrm>
            <a:off x="9571939" y="3611880"/>
            <a:ext cx="19769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Rho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681667" y="4069080"/>
            <a:ext cx="17574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vs. interest rates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PRICE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models, one fair value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92424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4008" cy="338328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24028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Binomial Tree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301752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the price up or down, then fold the value back to today.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96112" y="443484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American &amp; barrier options. Intuitive, what this project uses.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98264" y="1920240"/>
            <a:ext cx="3392424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98264" y="1920240"/>
            <a:ext cx="64008" cy="338328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54296" y="224028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Black–Scholes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54296" y="301752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closed-form equation for the price.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54296" y="443484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European vanilla options. Instant, exact.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56448" y="1920240"/>
            <a:ext cx="3392424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56448" y="1920240"/>
            <a:ext cx="64008" cy="338328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0" y="224028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 Carlo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301752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thousands of random paths, then average the payoff.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12480" y="443484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complex, path-dependent exotics.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BINOMIAL TREE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forward, price backward</a:t>
            </a:r>
            <a:endParaRPr lang="en-US" sz="3000" dirty="0"/>
          </a:p>
        </p:txBody>
      </p:sp>
      <p:pic>
        <p:nvPicPr>
          <p:cNvPr id="5" name="Image 0" descr="assets/concept/tre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54480"/>
            <a:ext cx="768096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2103120"/>
            <a:ext cx="29718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549640" y="2103120"/>
            <a:ext cx="64008" cy="292608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77824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Backward induction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778240" y="28346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expiry the payoff is obvious. Discount each step by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778240" y="37033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e^(−rΔt)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778240" y="4114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fold back to today: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778240" y="4526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fair value = 186 pts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5760" y="5989320"/>
            <a:ext cx="11457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spot · u up factor · d down factor · p risk-neutral prob · r rate · σ vol · Δt step · e^(−rΔt) discount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BINOMIAL, BY HAND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node, worked out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64008" cy="1627632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476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Two outcomes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86584"/>
            <a:ext cx="4754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S₀ = 21,500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  → 21,500 × u = 22,069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 → 21,500 × d = 20,946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2784" y="1783080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72784" y="1783080"/>
            <a:ext cx="64008" cy="1627632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47104" y="19476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Risk-neutral 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47104" y="2386584"/>
            <a:ext cx="4754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(e^(rΔt) − d) / (u − d)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0.504     1 − p = 0.496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02152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3502152"/>
            <a:ext cx="64008" cy="1627632"/>
          </a:xfrm>
          <a:prstGeom prst="rect">
            <a:avLst/>
          </a:prstGeom>
          <a:solidFill>
            <a:srgbClr val="0E8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66674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Payoffs at K = 22,000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105656"/>
            <a:ext cx="4754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 = max(22,069 − 22,000, 0) = 69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= max(20,946 − 22,000, 0) =  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2784" y="3502152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72784" y="3502152"/>
            <a:ext cx="64008" cy="1627632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47104" y="366674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Discount one node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47104" y="4105656"/>
            <a:ext cx="4754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e^(−rΔt) [ p·Cu + (1−p)·Cd ]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≈ 0.504 × 69   ≈   34.7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108996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5257800"/>
            <a:ext cx="64008" cy="841248"/>
          </a:xfrm>
          <a:prstGeom prst="rect">
            <a:avLst/>
          </a:prstGeom>
          <a:solidFill>
            <a:srgbClr val="D7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5257800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node of the 3-step grid ≈ 34.7.   </a:t>
            </a:r>
            <a:r>
              <a:rPr lang="en-US" sz="1550" b="1" dirty="0">
                <a:solidFill>
                  <a:srgbClr val="D7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rule, finer grid: 3 steps → fair value 186.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TRICK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Risk-neutral valuation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4008" cy="31089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is a pricing weight, not a probability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154680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(e^(rΔt) − d) / (u − d)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pricing weight, not the real chance of a rise.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drift never enters.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72784" y="1920240"/>
            <a:ext cx="52578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72784" y="1920240"/>
            <a:ext cx="64008" cy="3108960"/>
          </a:xfrm>
          <a:prstGeom prst="rect">
            <a:avLst/>
          </a:prstGeom>
          <a:solidFill>
            <a:srgbClr val="0E8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92824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discount at 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92824" y="3154680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Pretend every asset grows at the risk-free rate r.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price = e^(−rT) × expected payoff.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risk premium, no risk appetite needed.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risk-neutral logic sits under Black-Scholes too.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BLACK–SCHOLES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continuous limit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463040" y="2286000"/>
            <a:ext cx="92354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63040" y="2286000"/>
            <a:ext cx="64008" cy="237744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63040" y="269748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S · N(d1) − K · e^(−rT) · N(d2)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365760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53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 = [ ln(S/K) + (r + σ²/2) T ] / (σ√T)</a:t>
            </a:r>
            <a:endParaRPr lang="en-US" sz="1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53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 = d1 − σ√T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507492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tree's steps shrink toward zero, it converges to this single formula. Same fair value, computed instantly.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HEDGING &amp; REPLICATION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desk stays flat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92424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64008" cy="320040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258568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Cancel the risk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6112" y="3017520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call leaves you short the market.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Δ units of the index to offset.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exposure → 0: the book is flat.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98264" y="1965960"/>
            <a:ext cx="3392424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98264" y="1965960"/>
            <a:ext cx="64008" cy="3200400"/>
          </a:xfrm>
          <a:prstGeom prst="rect">
            <a:avLst/>
          </a:prstGeom>
          <a:solidFill>
            <a:srgbClr val="D7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54296" y="2258568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Re-hedge as Δ drifts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54296" y="3017520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moves when spot moves; that drift is Gamma.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or add the underlying to stay flat.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adjustment locks in a small cost.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56448" y="1965960"/>
            <a:ext cx="3392424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56448" y="1965960"/>
            <a:ext cx="64008" cy="3200400"/>
          </a:xfrm>
          <a:prstGeom prst="rect">
            <a:avLst/>
          </a:prstGeom>
          <a:solidFill>
            <a:srgbClr val="0E8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2258568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Replication = price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12480" y="3017520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index + cash portfolio copies the payoff.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Rebalanced each step, it tracks the option.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running cost IS the fair value.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 Δ, fund Γ: the running cost of replication is the premium.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only input you cannot see</a:t>
            </a:r>
            <a:endParaRPr lang="en-US" sz="3000" dirty="0"/>
          </a:p>
        </p:txBody>
      </p:sp>
      <p:pic>
        <p:nvPicPr>
          <p:cNvPr id="5" name="Image 0" descr="assets/concept/vo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1600200"/>
            <a:ext cx="603504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2011680"/>
            <a:ext cx="41148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06640" y="2011680"/>
            <a:ext cx="64008" cy="31089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80960" y="23317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Spot, strike, time, rate, all observable.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680960" y="310896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is the market's estimate of how violently the price will move, its fear. It drives the premium more than anything else.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80960" y="4526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it backward from prices → implied volatility.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ONE SIGMA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volatility smile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92424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64008" cy="320040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258568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vol, all strikes?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017520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Black-Scholes uses one σ for every strike.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option prices disagree.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wings trade richer.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98264" y="1965960"/>
            <a:ext cx="3392424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98264" y="1965960"/>
            <a:ext cx="64008" cy="320040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54296" y="2258568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smile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54296" y="3017520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implied vol against strike.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rises away from the money.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wings curl up: a smile.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56448" y="1965960"/>
            <a:ext cx="3392424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56448" y="1965960"/>
            <a:ext cx="64008" cy="3200400"/>
          </a:xfrm>
          <a:prstGeom prst="rect">
            <a:avLst/>
          </a:prstGeom>
          <a:solidFill>
            <a:srgbClr val="D7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2258568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Equity-index skew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3017520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Indices tilt, they don't smile evenly.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fear bids up the OTM puts.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strikes carry the highest vol.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model, one σ. Real prices reveal many.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EXOTIC OPTIONS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Cheaper, with a tripwire</a:t>
            </a:r>
            <a:endParaRPr lang="en-US" sz="3000" dirty="0"/>
          </a:p>
        </p:txBody>
      </p:sp>
      <p:pic>
        <p:nvPicPr>
          <p:cNvPr id="5" name="Image 0" descr="assets/concept/barri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1645920"/>
            <a:ext cx="73152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2011680"/>
            <a:ext cx="301752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503920" y="2011680"/>
            <a:ext cx="64008" cy="3017520"/>
          </a:xfrm>
          <a:prstGeom prst="rect">
            <a:avLst/>
          </a:prstGeom>
          <a:solidFill>
            <a:srgbClr val="D7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778240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Knock-out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778240" y="27889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the barrier once and the option dies, worthless, instantly.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778240" y="3977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7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 protection,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7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premium: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7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1,112 → 934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OPTIONS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barrier family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64008" cy="1627632"/>
          </a:xfrm>
          <a:prstGeom prst="rect">
            <a:avLst/>
          </a:prstGeom>
          <a:solidFill>
            <a:srgbClr val="D7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Down-and-out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414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 if spot falls to the barrier.</a:t>
            </a:r>
            <a:endParaRPr lang="en-US" sz="13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below the start (the deck's Day 3 trade).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2784" y="1783080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72784" y="1783080"/>
            <a:ext cx="64008" cy="1627632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47104" y="19659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Down-and-in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47104" y="2441448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 only if spot falls to the barrier.</a:t>
            </a:r>
            <a:endParaRPr lang="en-US" sz="13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Dormant until that level is hit.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502152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3502152"/>
            <a:ext cx="64008" cy="1627632"/>
          </a:xfrm>
          <a:prstGeom prst="rect">
            <a:avLst/>
          </a:prstGeom>
          <a:solidFill>
            <a:srgbClr val="D7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6850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Up-and-out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 if spot rises to the barrier.</a:t>
            </a:r>
            <a:endParaRPr lang="en-US" sz="13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above the start, usually paired with puts.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72784" y="3502152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72784" y="3502152"/>
            <a:ext cx="64008" cy="1627632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47104" y="36850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Up-and-in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47104" y="4160520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 only if spot rises to the barrier.</a:t>
            </a:r>
            <a:endParaRPr lang="en-US" sz="13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touch, no option.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strike, expiry and barrier: knock-in + knock-out = the vanilla option.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PUT–CALL PARITY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Calls and puts are linked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46120" y="2331720"/>
            <a:ext cx="5715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46120" y="2331720"/>
            <a:ext cx="64008" cy="17373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46120" y="2679192"/>
            <a:ext cx="5715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− P = S − K · e^(−rT)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737360" y="4434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a call and sell a put, and you have replicated the stock itself. Arbitrage forces this to hold, so knowing one option's price gives you the other's.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call   ·   P put   ·   S spot   ·   K strike   ·   r rate   ·   T 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Hang Seng Index Option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011680"/>
          <a:ext cx="9418320" cy="28346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Underlying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Hang Seng Index (HSI)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multiplier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HK$50 per index point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Exercise style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European, exercised only at expiry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Settlement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(no shares change hands)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Exchange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6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HKEX · listed since 1993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371600" y="53949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Asia's flagship equity-index derivative, and the contract priced throughout this project.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37160" cy="13716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4389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6809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theory to the trading desk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a game that runs this exact pricing engine: four trading days, real clients to quote, a grade at the end.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175686"/>
            <a:ext cx="6400800" cy="57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way to learn options? Trade them.</a:t>
            </a:r>
          </a:p>
          <a:p>
            <a:endParaRPr lang="en-US" sz="2000" b="1" dirty="0">
              <a:solidFill>
                <a:srgbClr val="0E7C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2000" b="1" dirty="0">
                <a:solidFill>
                  <a:srgbClr val="0E7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onto the desk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9044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6243A"/>
                </a:solidFill>
                <a:latin typeface="Courier New" pitchFamily="34" charset="0"/>
                <a:cs typeface="Courier New" pitchFamily="34" charset="-120"/>
                <a:hlinkClick r:id="rId3"/>
              </a:rPr>
              <a:t>https://zeref007.github.io/trader-simulator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5360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thanks to Professor Martin, the inspiration behind this project.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0" y="182880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D6C8"/>
            </a:solidFill>
            <a:prstDash val="solid"/>
          </a:ln>
          <a:effectLst>
            <a:outerShdw blurRad="114300" dist="38100" dir="5400000" algn="bl" rotWithShape="0">
              <a:srgbClr val="8A827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assets/qr-h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057400"/>
            <a:ext cx="2651760" cy="2651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0" y="5029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FIN 7870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Trader · Digital Investfair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1547</Words>
  <Application>Microsoft Macintosh PowerPoint</Application>
  <PresentationFormat>Widescreen</PresentationFormat>
  <Paragraphs>283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Options, from first principles</dc:title>
  <dc:subject>PptxGenJS Presentation</dc:subject>
  <dc:creator>Central Trader</dc:creator>
  <cp:lastModifiedBy>Shiva Raj Bhatt</cp:lastModifiedBy>
  <cp:revision>2</cp:revision>
  <dcterms:created xsi:type="dcterms:W3CDTF">2026-06-13T10:06:33Z</dcterms:created>
  <dcterms:modified xsi:type="dcterms:W3CDTF">2026-06-13T10:14:59Z</dcterms:modified>
</cp:coreProperties>
</file>